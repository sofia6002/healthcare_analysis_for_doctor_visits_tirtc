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3" r:id="rId11"/>
    <p:sldId id="344" r:id="rId12"/>
    <p:sldId id="345" r:id="rId13"/>
    <p:sldId id="346"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9" d="100"/>
          <a:sy n="79" d="100"/>
        </p:scale>
        <p:origin x="67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25-09-2026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25-09-2026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25-09-2026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25-09-2026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25-09-2026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25-09-2026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25-09-2026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Sofia6002/Healthcare_Analysis_for_Doctor_Visits_TIRTC"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Sofia TM</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Healthcare Analysis for </a:t>
            </a:r>
            <a:r>
              <a:rPr lang="en-GB" sz="3200"/>
              <a:t>Doctor </a:t>
            </a:r>
            <a:r>
              <a:rPr lang="en-GB" sz="3200" dirty="0"/>
              <a:t>V</a:t>
            </a:r>
            <a:r>
              <a:rPr lang="en-GB" sz="3200"/>
              <a:t>isits</a:t>
            </a:r>
            <a:r>
              <a:rPr lang="en-GB" sz="3200" dirty="0" err="1"/>
              <a:t>_TIRTC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53781" y="2102230"/>
            <a:ext cx="6431280" cy="3607987"/>
          </a:xfrm>
        </p:spPr>
        <p:txBody>
          <a:bodyPr/>
          <a:lstStyle/>
          <a:p>
            <a:pPr>
              <a:lnSpc>
                <a:spcPct val="100000"/>
              </a:lnSpc>
            </a:pPr>
            <a:r>
              <a:rPr lang="en-US" dirty="0"/>
              <a:t>Analyze patient visit data to identify which groups visit doctors more</a:t>
            </a:r>
            <a:br>
              <a:rPr lang="en-US" sz="2800" dirty="0"/>
            </a:br>
            <a:r>
              <a:rPr lang="en-US" dirty="0"/>
              <a:t>frequently.</a:t>
            </a:r>
            <a:endParaRPr lang="en-US" sz="2800" dirty="0"/>
          </a:p>
          <a:p>
            <a:pPr>
              <a:lnSpc>
                <a:spcPct val="100000"/>
              </a:lnSpc>
            </a:pPr>
            <a:r>
              <a:rPr lang="en-US" dirty="0"/>
              <a:t>Explore how illness, health status, and chronic conditions relate to</a:t>
            </a:r>
            <a:br>
              <a:rPr lang="en-US" sz="2800" dirty="0"/>
            </a:br>
            <a:r>
              <a:rPr lang="en-US" dirty="0"/>
              <a:t>visit patterns.</a:t>
            </a:r>
          </a:p>
          <a:p>
            <a:pPr>
              <a:lnSpc>
                <a:spcPct val="100000"/>
              </a:lnSpc>
            </a:pPr>
            <a:r>
              <a:rPr lang="en-US" dirty="0"/>
              <a:t>Provide data-driven insights to help hospital management improve</a:t>
            </a:r>
            <a:br>
              <a:rPr lang="en-US" sz="2800" dirty="0"/>
            </a:br>
            <a:r>
              <a:rPr lang="en-US" dirty="0"/>
              <a:t>healthcare services.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022580" y="275904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6">
            <a:extLst>
              <a:ext uri="{FF2B5EF4-FFF2-40B4-BE49-F238E27FC236}">
                <a16:creationId xmlns:a16="http://schemas.microsoft.com/office/drawing/2014/main" id="{EBA15981-F246-7077-B2AF-0B417FE1C331}"/>
              </a:ext>
            </a:extLst>
          </p:cNvPr>
          <p:cNvSpPr>
            <a:spLocks noGrp="1"/>
          </p:cNvSpPr>
          <p:nvPr>
            <p:ph type="body" sz="quarter" idx="12"/>
          </p:nvPr>
        </p:nvSpPr>
        <p:spPr>
          <a:xfrm>
            <a:off x="263079" y="2628900"/>
            <a:ext cx="9027702" cy="3290782"/>
          </a:xfrm>
        </p:spPr>
        <p:txBody>
          <a:bodyPr/>
          <a:lstStyle/>
          <a:p>
            <a:pPr lvl="1">
              <a:lnSpc>
                <a:spcPct val="100000"/>
              </a:lnSpc>
            </a:pPr>
            <a:r>
              <a:rPr lang="en-US" dirty="0"/>
              <a:t>This project leverages Python, Pandas, and data visualization to analyze patterns in doctor visit frequency. It examines how factors such as illness type, overall health status, age group, and chronic conditions influence healthcare utilization. The resulting insights equip hospital management with a data-driven understanding of patient needs, enabling them to identify opportunities for improving service delivery and resource allocation.</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47700" y="2211637"/>
            <a:ext cx="7904481" cy="2434725"/>
          </a:xfrm>
        </p:spPr>
        <p:txBody>
          <a:bodyPr>
            <a:normAutofit/>
          </a:bodyPr>
          <a:lstStyle/>
          <a:p>
            <a:pPr>
              <a:lnSpc>
                <a:spcPct val="100000"/>
              </a:lnSpc>
            </a:pPr>
            <a:r>
              <a:rPr lang="en-US" dirty="0"/>
              <a:t>Hospital management and administrators.</a:t>
            </a:r>
            <a:endParaRPr lang="en-US" sz="3600" dirty="0"/>
          </a:p>
          <a:p>
            <a:pPr>
              <a:lnSpc>
                <a:spcPct val="100000"/>
              </a:lnSpc>
            </a:pPr>
            <a:r>
              <a:rPr lang="en-US" dirty="0"/>
              <a:t>Doctors and healthcare professionals.</a:t>
            </a:r>
            <a:endParaRPr lang="en-US" sz="3600" dirty="0"/>
          </a:p>
          <a:p>
            <a:pPr>
              <a:lnSpc>
                <a:spcPct val="100000"/>
              </a:lnSpc>
            </a:pPr>
            <a:r>
              <a:rPr lang="en-US" dirty="0"/>
              <a:t>Healthcare planners and data analysts.</a:t>
            </a:r>
            <a:endParaRPr lang="en-US" sz="3600" dirty="0"/>
          </a:p>
          <a:p>
            <a:pPr>
              <a:lnSpc>
                <a:spcPct val="100000"/>
              </a:lnSpc>
            </a:pPr>
            <a:r>
              <a:rPr lang="en-US" dirty="0"/>
              <a:t>Public health organizations.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US" dirty="0"/>
              <a:t>Python</a:t>
            </a:r>
          </a:p>
          <a:p>
            <a:pPr lvl="1">
              <a:lnSpc>
                <a:spcPct val="100000"/>
              </a:lnSpc>
            </a:pPr>
            <a:r>
              <a:rPr lang="en-US" dirty="0"/>
              <a:t>Pandas</a:t>
            </a:r>
          </a:p>
          <a:p>
            <a:pPr lvl="1">
              <a:lnSpc>
                <a:spcPct val="100000"/>
              </a:lnSpc>
            </a:pPr>
            <a:r>
              <a:rPr lang="en-US" dirty="0" err="1"/>
              <a:t>Numpy</a:t>
            </a:r>
            <a:r>
              <a:rPr lang="en-US" dirty="0"/>
              <a:t> </a:t>
            </a:r>
          </a:p>
          <a:p>
            <a:pPr lvl="1">
              <a:lnSpc>
                <a:spcPct val="100000"/>
              </a:lnSpc>
            </a:pPr>
            <a:r>
              <a:rPr lang="en-US" dirty="0"/>
              <a:t>Matplotlib </a:t>
            </a:r>
          </a:p>
          <a:p>
            <a:pPr lvl="1">
              <a:lnSpc>
                <a:spcPct val="100000"/>
              </a:lnSpc>
            </a:pPr>
            <a:r>
              <a:rPr lang="en-US" dirty="0"/>
              <a:t>Seaborn</a:t>
            </a:r>
          </a:p>
          <a:p>
            <a:pPr lvl="1">
              <a:lnSpc>
                <a:spcPct val="100000"/>
              </a:lnSpc>
            </a:pPr>
            <a:r>
              <a:rPr lang="en-US" dirty="0" err="1"/>
              <a:t>GoogleCollab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1000"/>
                                        <p:tgtEl>
                                          <p:spTgt spid="7">
                                            <p:txEl>
                                              <p:pRg st="5" end="5"/>
                                            </p:txEl>
                                          </p:spTgt>
                                        </p:tgtEl>
                                      </p:cBhvr>
                                    </p:animEffect>
                                    <p:anim calcmode="lin" valueType="num">
                                      <p:cBhvr>
                                        <p:cTn id="4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3" name="Text Placeholder 2">
            <a:extLst>
              <a:ext uri="{FF2B5EF4-FFF2-40B4-BE49-F238E27FC236}">
                <a16:creationId xmlns:a16="http://schemas.microsoft.com/office/drawing/2014/main" id="{E9592CA6-66B7-F044-8E18-E906C751B475}"/>
              </a:ext>
            </a:extLst>
          </p:cNvPr>
          <p:cNvSpPr>
            <a:spLocks noGrp="1"/>
          </p:cNvSpPr>
          <p:nvPr>
            <p:ph type="body" sz="quarter" idx="12"/>
          </p:nvPr>
        </p:nvSpPr>
        <p:spPr/>
        <p:txBody>
          <a:bodyPr/>
          <a:lstStyle/>
          <a:p>
            <a:endParaRPr lang="en-US"/>
          </a:p>
        </p:txBody>
      </p:sp>
      <p:pic>
        <p:nvPicPr>
          <p:cNvPr id="11" name="Picture 10">
            <a:extLst>
              <a:ext uri="{FF2B5EF4-FFF2-40B4-BE49-F238E27FC236}">
                <a16:creationId xmlns:a16="http://schemas.microsoft.com/office/drawing/2014/main" id="{42AB2EA0-ED72-0CE7-ACD1-4D90417AD4D5}"/>
              </a:ext>
            </a:extLst>
          </p:cNvPr>
          <p:cNvPicPr>
            <a:picLocks noChangeAspect="1"/>
          </p:cNvPicPr>
          <p:nvPr/>
        </p:nvPicPr>
        <p:blipFill>
          <a:blip r:embed="rId4"/>
          <a:stretch>
            <a:fillRect/>
          </a:stretch>
        </p:blipFill>
        <p:spPr>
          <a:xfrm>
            <a:off x="584957" y="1739740"/>
            <a:ext cx="5639289" cy="474767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FCB2-DCE9-EE20-1E59-F796985E7C1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9E9528-8157-E6A1-ECDF-195A115A7C9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92C7CA-193B-3FD8-452E-F395AE0231D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9419344-11EB-99D6-24BD-BE4D33F6225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2E95769-4698-8C4B-34A4-4917F4B9EA2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2EC387B-F9BA-DE71-AB1C-3109A43A4DA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430626F-C303-CD55-8663-A7F0CA17CE0E}"/>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87E47A6-E516-E371-B32D-70BC74141B89}"/>
              </a:ext>
            </a:extLst>
          </p:cNvPr>
          <p:cNvPicPr>
            <a:picLocks noChangeAspect="1"/>
          </p:cNvPicPr>
          <p:nvPr/>
        </p:nvPicPr>
        <p:blipFill>
          <a:blip r:embed="rId4"/>
          <a:stretch>
            <a:fillRect/>
          </a:stretch>
        </p:blipFill>
        <p:spPr>
          <a:xfrm>
            <a:off x="591063" y="1287531"/>
            <a:ext cx="6828112" cy="5319221"/>
          </a:xfrm>
          <a:prstGeom prst="rect">
            <a:avLst/>
          </a:prstGeom>
        </p:spPr>
      </p:pic>
    </p:spTree>
    <p:extLst>
      <p:ext uri="{BB962C8B-B14F-4D97-AF65-F5344CB8AC3E}">
        <p14:creationId xmlns:p14="http://schemas.microsoft.com/office/powerpoint/2010/main" val="60455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0FDCB-FDBC-3F92-9247-B62ABD3746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DBE1A1B-7153-3339-CBC0-BEBE8E4C64C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8D88AB1-8851-EF9B-CD61-85223B95090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7CD3F94-E3EE-4565-D528-62300D3AFCC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CE1EEC9-68E6-A213-C366-CD7DB7E6BB8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81841BC-F38F-6957-9A7E-3C287CFBB52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65F649ED-E7FF-7E2B-C84F-51F7C4CF388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71B2C0A-7FA7-34A6-1BC2-1E43E0AF58E7}"/>
              </a:ext>
            </a:extLst>
          </p:cNvPr>
          <p:cNvPicPr>
            <a:picLocks noChangeAspect="1"/>
          </p:cNvPicPr>
          <p:nvPr/>
        </p:nvPicPr>
        <p:blipFill>
          <a:blip r:embed="rId4"/>
          <a:stretch>
            <a:fillRect/>
          </a:stretch>
        </p:blipFill>
        <p:spPr>
          <a:xfrm>
            <a:off x="647699" y="1157884"/>
            <a:ext cx="6229755" cy="5669237"/>
          </a:xfrm>
          <a:prstGeom prst="rect">
            <a:avLst/>
          </a:prstGeom>
        </p:spPr>
      </p:pic>
      <p:graphicFrame>
        <p:nvGraphicFramePr>
          <p:cNvPr id="2" name="Table 1">
            <a:extLst>
              <a:ext uri="{FF2B5EF4-FFF2-40B4-BE49-F238E27FC236}">
                <a16:creationId xmlns:a16="http://schemas.microsoft.com/office/drawing/2014/main" id="{E155C03F-58AE-DAE3-44D0-D9979AE75E78}"/>
              </a:ext>
            </a:extLst>
          </p:cNvPr>
          <p:cNvGraphicFramePr>
            <a:graphicFrameLocks noGrp="1"/>
          </p:cNvGraphicFramePr>
          <p:nvPr/>
        </p:nvGraphicFramePr>
        <p:xfrm>
          <a:off x="677863" y="2160588"/>
          <a:ext cx="8596312" cy="3931920"/>
        </p:xfrm>
        <a:graphic>
          <a:graphicData uri="http://schemas.openxmlformats.org/drawingml/2006/table">
            <a:tbl>
              <a:tblPr/>
              <a:tblGrid>
                <a:gridCol w="4298156">
                  <a:extLst>
                    <a:ext uri="{9D8B030D-6E8A-4147-A177-3AD203B41FA5}">
                      <a16:colId xmlns:a16="http://schemas.microsoft.com/office/drawing/2014/main" val="1131240462"/>
                    </a:ext>
                  </a:extLst>
                </a:gridCol>
                <a:gridCol w="4298156">
                  <a:extLst>
                    <a:ext uri="{9D8B030D-6E8A-4147-A177-3AD203B41FA5}">
                      <a16:colId xmlns:a16="http://schemas.microsoft.com/office/drawing/2014/main" val="2129371637"/>
                    </a:ext>
                  </a:extLst>
                </a:gridCol>
              </a:tblGrid>
              <a:tr h="0">
                <a:tc>
                  <a:txBody>
                    <a:bodyPr/>
                    <a:lstStyle/>
                    <a:p>
                      <a:pPr>
                        <a:buNone/>
                      </a:pPr>
                      <a:r>
                        <a:rPr lang="en-US"/>
                        <a:t>Step</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extLst>
                  <a:ext uri="{0D108BD9-81ED-4DB2-BD59-A6C34878D82A}">
                    <a16:rowId xmlns:a16="http://schemas.microsoft.com/office/drawing/2014/main" val="4075553758"/>
                  </a:ext>
                </a:extLst>
              </a:tr>
              <a:tr h="0">
                <a:tc>
                  <a:txBody>
                    <a:bodyPr/>
                    <a:lstStyle/>
                    <a:p>
                      <a:pPr>
                        <a:buNone/>
                      </a:pPr>
                      <a:r>
                        <a:rPr lang="en-US"/>
                        <a:t>Data Overview</a:t>
                      </a:r>
                    </a:p>
                  </a:txBody>
                  <a:tcPr anchor="ctr">
                    <a:lnL>
                      <a:noFill/>
                    </a:lnL>
                    <a:lnR>
                      <a:noFill/>
                    </a:lnR>
                    <a:lnT>
                      <a:noFill/>
                    </a:lnT>
                    <a:lnB>
                      <a:noFill/>
                    </a:lnB>
                    <a:noFill/>
                  </a:tcPr>
                </a:tc>
                <a:tc>
                  <a:txBody>
                    <a:bodyPr/>
                    <a:lstStyle/>
                    <a:p>
                      <a:pPr>
                        <a:buNone/>
                      </a:pPr>
                      <a:r>
                        <a:rPr lang="en-US"/>
                        <a:t>Preview rows, check data types, and summary statistics</a:t>
                      </a:r>
                    </a:p>
                  </a:txBody>
                  <a:tcPr anchor="ctr">
                    <a:lnL>
                      <a:noFill/>
                    </a:lnL>
                    <a:lnR>
                      <a:noFill/>
                    </a:lnR>
                    <a:lnT>
                      <a:noFill/>
                    </a:lnT>
                    <a:lnB>
                      <a:noFill/>
                    </a:lnB>
                    <a:noFill/>
                  </a:tcPr>
                </a:tc>
                <a:extLst>
                  <a:ext uri="{0D108BD9-81ED-4DB2-BD59-A6C34878D82A}">
                    <a16:rowId xmlns:a16="http://schemas.microsoft.com/office/drawing/2014/main" val="1209173245"/>
                  </a:ext>
                </a:extLst>
              </a:tr>
              <a:tr h="0">
                <a:tc>
                  <a:txBody>
                    <a:bodyPr/>
                    <a:lstStyle/>
                    <a:p>
                      <a:pPr>
                        <a:buNone/>
                      </a:pPr>
                      <a:r>
                        <a:rPr lang="en-US"/>
                        <a:t>Missing Value Check</a:t>
                      </a:r>
                    </a:p>
                  </a:txBody>
                  <a:tcPr anchor="ctr">
                    <a:lnL>
                      <a:noFill/>
                    </a:lnL>
                    <a:lnR>
                      <a:noFill/>
                    </a:lnR>
                    <a:lnT>
                      <a:noFill/>
                    </a:lnT>
                    <a:lnB>
                      <a:noFill/>
                    </a:lnB>
                    <a:noFill/>
                  </a:tcPr>
                </a:tc>
                <a:tc>
                  <a:txBody>
                    <a:bodyPr/>
                    <a:lstStyle/>
                    <a:p>
                      <a:pPr>
                        <a:buNone/>
                      </a:pPr>
                      <a:r>
                        <a:rPr lang="en-US">
                          <a:latin typeface="Courier New" panose="02070309020205020404" pitchFamily="49" charset="0"/>
                        </a:rPr>
                        <a:t>isnull().sum()</a:t>
                      </a:r>
                      <a:r>
                        <a:rPr lang="en-US"/>
                        <a:t> to confirm data completeness</a:t>
                      </a:r>
                    </a:p>
                  </a:txBody>
                  <a:tcPr anchor="ctr">
                    <a:lnL>
                      <a:noFill/>
                    </a:lnL>
                    <a:lnR>
                      <a:noFill/>
                    </a:lnR>
                    <a:lnT>
                      <a:noFill/>
                    </a:lnT>
                    <a:lnB>
                      <a:noFill/>
                    </a:lnB>
                    <a:noFill/>
                  </a:tcPr>
                </a:tc>
                <a:extLst>
                  <a:ext uri="{0D108BD9-81ED-4DB2-BD59-A6C34878D82A}">
                    <a16:rowId xmlns:a16="http://schemas.microsoft.com/office/drawing/2014/main" val="3302619488"/>
                  </a:ext>
                </a:extLst>
              </a:tr>
              <a:tr h="0">
                <a:tc>
                  <a:txBody>
                    <a:bodyPr/>
                    <a:lstStyle/>
                    <a:p>
                      <a:pPr>
                        <a:buNone/>
                      </a:pPr>
                      <a:r>
                        <a:rPr lang="en-US"/>
                        <a:t>Univariate: Gender</a:t>
                      </a:r>
                    </a:p>
                  </a:txBody>
                  <a:tcPr anchor="ctr">
                    <a:lnL>
                      <a:noFill/>
                    </a:lnL>
                    <a:lnR>
                      <a:noFill/>
                    </a:lnR>
                    <a:lnT>
                      <a:noFill/>
                    </a:lnT>
                    <a:lnB>
                      <a:noFill/>
                    </a:lnB>
                    <a:noFill/>
                  </a:tcPr>
                </a:tc>
                <a:tc>
                  <a:txBody>
                    <a:bodyPr/>
                    <a:lstStyle/>
                    <a:p>
                      <a:pPr>
                        <a:buNone/>
                      </a:pPr>
                      <a:r>
                        <a:rPr lang="en-US"/>
                        <a:t>Count plot of gender distribution</a:t>
                      </a:r>
                    </a:p>
                  </a:txBody>
                  <a:tcPr anchor="ctr">
                    <a:lnL>
                      <a:noFill/>
                    </a:lnL>
                    <a:lnR>
                      <a:noFill/>
                    </a:lnR>
                    <a:lnT>
                      <a:noFill/>
                    </a:lnT>
                    <a:lnB>
                      <a:noFill/>
                    </a:lnB>
                    <a:noFill/>
                  </a:tcPr>
                </a:tc>
                <a:extLst>
                  <a:ext uri="{0D108BD9-81ED-4DB2-BD59-A6C34878D82A}">
                    <a16:rowId xmlns:a16="http://schemas.microsoft.com/office/drawing/2014/main" val="2619548467"/>
                  </a:ext>
                </a:extLst>
              </a:tr>
              <a:tr h="0">
                <a:tc>
                  <a:txBody>
                    <a:bodyPr/>
                    <a:lstStyle/>
                    <a:p>
                      <a:pPr>
                        <a:buNone/>
                      </a:pPr>
                      <a:r>
                        <a:rPr lang="en-US"/>
                        <a:t>Univariate: Age</a:t>
                      </a:r>
                    </a:p>
                  </a:txBody>
                  <a:tcPr anchor="ctr">
                    <a:lnL>
                      <a:noFill/>
                    </a:lnL>
                    <a:lnR>
                      <a:noFill/>
                    </a:lnR>
                    <a:lnT>
                      <a:noFill/>
                    </a:lnT>
                    <a:lnB>
                      <a:noFill/>
                    </a:lnB>
                    <a:noFill/>
                  </a:tcPr>
                </a:tc>
                <a:tc>
                  <a:txBody>
                    <a:bodyPr/>
                    <a:lstStyle/>
                    <a:p>
                      <a:pPr>
                        <a:buNone/>
                      </a:pPr>
                      <a:r>
                        <a:rPr lang="en-US"/>
                        <a:t>Histogram + KDE of age distribution</a:t>
                      </a:r>
                    </a:p>
                  </a:txBody>
                  <a:tcPr anchor="ctr">
                    <a:lnL>
                      <a:noFill/>
                    </a:lnL>
                    <a:lnR>
                      <a:noFill/>
                    </a:lnR>
                    <a:lnT>
                      <a:noFill/>
                    </a:lnT>
                    <a:lnB>
                      <a:noFill/>
                    </a:lnB>
                    <a:noFill/>
                  </a:tcPr>
                </a:tc>
                <a:extLst>
                  <a:ext uri="{0D108BD9-81ED-4DB2-BD59-A6C34878D82A}">
                    <a16:rowId xmlns:a16="http://schemas.microsoft.com/office/drawing/2014/main" val="416297992"/>
                  </a:ext>
                </a:extLst>
              </a:tr>
              <a:tr h="0">
                <a:tc>
                  <a:txBody>
                    <a:bodyPr/>
                    <a:lstStyle/>
                    <a:p>
                      <a:pPr>
                        <a:buNone/>
                      </a:pPr>
                      <a:r>
                        <a:rPr lang="en-US"/>
                        <a:t>Univariate: Visits</a:t>
                      </a:r>
                    </a:p>
                  </a:txBody>
                  <a:tcPr anchor="ctr">
                    <a:lnL>
                      <a:noFill/>
                    </a:lnL>
                    <a:lnR>
                      <a:noFill/>
                    </a:lnR>
                    <a:lnT>
                      <a:noFill/>
                    </a:lnT>
                    <a:lnB>
                      <a:noFill/>
                    </a:lnB>
                    <a:noFill/>
                  </a:tcPr>
                </a:tc>
                <a:tc>
                  <a:txBody>
                    <a:bodyPr/>
                    <a:lstStyle/>
                    <a:p>
                      <a:pPr>
                        <a:buNone/>
                      </a:pPr>
                      <a:r>
                        <a:rPr lang="en-US"/>
                        <a:t>Count plot of number-of-visits distribution</a:t>
                      </a:r>
                    </a:p>
                  </a:txBody>
                  <a:tcPr anchor="ctr">
                    <a:lnL>
                      <a:noFill/>
                    </a:lnL>
                    <a:lnR>
                      <a:noFill/>
                    </a:lnR>
                    <a:lnT>
                      <a:noFill/>
                    </a:lnT>
                    <a:lnB>
                      <a:noFill/>
                    </a:lnB>
                    <a:noFill/>
                  </a:tcPr>
                </a:tc>
                <a:extLst>
                  <a:ext uri="{0D108BD9-81ED-4DB2-BD59-A6C34878D82A}">
                    <a16:rowId xmlns:a16="http://schemas.microsoft.com/office/drawing/2014/main" val="3492425796"/>
                  </a:ext>
                </a:extLst>
              </a:tr>
              <a:tr h="0">
                <a:tc>
                  <a:txBody>
                    <a:bodyPr/>
                    <a:lstStyle/>
                    <a:p>
                      <a:pPr>
                        <a:buNone/>
                      </a:pPr>
                      <a:r>
                        <a:rPr lang="en-US"/>
                        <a:t>Bivariate: Visits by Gender</a:t>
                      </a:r>
                    </a:p>
                  </a:txBody>
                  <a:tcPr anchor="ctr">
                    <a:lnL>
                      <a:noFill/>
                    </a:lnL>
                    <a:lnR>
                      <a:noFill/>
                    </a:lnR>
                    <a:lnT>
                      <a:noFill/>
                    </a:lnT>
                    <a:lnB>
                      <a:noFill/>
                    </a:lnB>
                    <a:noFill/>
                  </a:tcPr>
                </a:tc>
                <a:tc>
                  <a:txBody>
                    <a:bodyPr/>
                    <a:lstStyle/>
                    <a:p>
                      <a:pPr>
                        <a:buNone/>
                      </a:pPr>
                      <a:r>
                        <a:rPr lang="en-US"/>
                        <a:t>Grouped aggregation (</a:t>
                      </a:r>
                      <a:r>
                        <a:rPr lang="en-US">
                          <a:latin typeface="Courier New" panose="02070309020205020404" pitchFamily="49" charset="0"/>
                        </a:rPr>
                        <a:t>count</a:t>
                      </a:r>
                      <a:r>
                        <a:rPr lang="en-US"/>
                        <a:t>, </a:t>
                      </a:r>
                      <a:r>
                        <a:rPr lang="en-US">
                          <a:latin typeface="Courier New" panose="02070309020205020404" pitchFamily="49" charset="0"/>
                        </a:rPr>
                        <a:t>mean</a:t>
                      </a:r>
                      <a:r>
                        <a:rPr lang="en-US"/>
                        <a:t>, </a:t>
                      </a:r>
                      <a:r>
                        <a:rPr lang="en-US">
                          <a:latin typeface="Courier New" panose="02070309020205020404" pitchFamily="49" charset="0"/>
                        </a:rPr>
                        <a:t>median</a:t>
                      </a:r>
                      <a:r>
                        <a:rPr lang="en-US"/>
                        <a:t>) and bar plot of average visits per gender</a:t>
                      </a:r>
                    </a:p>
                  </a:txBody>
                  <a:tcPr anchor="ctr">
                    <a:lnL>
                      <a:noFill/>
                    </a:lnL>
                    <a:lnR>
                      <a:noFill/>
                    </a:lnR>
                    <a:lnT>
                      <a:noFill/>
                    </a:lnT>
                    <a:lnB>
                      <a:noFill/>
                    </a:lnB>
                    <a:noFill/>
                  </a:tcPr>
                </a:tc>
                <a:extLst>
                  <a:ext uri="{0D108BD9-81ED-4DB2-BD59-A6C34878D82A}">
                    <a16:rowId xmlns:a16="http://schemas.microsoft.com/office/drawing/2014/main" val="2856774455"/>
                  </a:ext>
                </a:extLst>
              </a:tr>
            </a:tbl>
          </a:graphicData>
        </a:graphic>
      </p:graphicFrame>
    </p:spTree>
    <p:extLst>
      <p:ext uri="{BB962C8B-B14F-4D97-AF65-F5344CB8AC3E}">
        <p14:creationId xmlns:p14="http://schemas.microsoft.com/office/powerpoint/2010/main" val="91791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F8CF-3E95-58E2-5DA7-CD1CD19742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FE0FD6-4599-5DEE-341B-40F9A39E24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EC3EECC-3832-BD12-41DB-E3A8F3E83F7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4F97251-79C1-9C61-45D8-894C83AC3E6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8769242-DB39-D281-F451-C26ED4100F0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5963603-6311-70DF-0D7D-AC1650DD821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56868B08-5A53-0886-693D-BED945ADD103}"/>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1C632DB-7847-F9B3-FCE6-639B36BA74F9}"/>
              </a:ext>
            </a:extLst>
          </p:cNvPr>
          <p:cNvPicPr>
            <a:picLocks noChangeAspect="1"/>
          </p:cNvPicPr>
          <p:nvPr/>
        </p:nvPicPr>
        <p:blipFill>
          <a:blip r:embed="rId4"/>
          <a:stretch>
            <a:fillRect/>
          </a:stretch>
        </p:blipFill>
        <p:spPr>
          <a:xfrm>
            <a:off x="592578" y="1171270"/>
            <a:ext cx="5817950" cy="5447430"/>
          </a:xfrm>
          <a:prstGeom prst="rect">
            <a:avLst/>
          </a:prstGeom>
        </p:spPr>
      </p:pic>
    </p:spTree>
    <p:extLst>
      <p:ext uri="{BB962C8B-B14F-4D97-AF65-F5344CB8AC3E}">
        <p14:creationId xmlns:p14="http://schemas.microsoft.com/office/powerpoint/2010/main" val="259346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95D0-3B8B-CFF6-43B9-F15D7FE119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1089CC-A9FB-35A5-B15A-ADAD5F57AAA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E7764D5-9ED6-2E06-626A-3EF91EA56B5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676A5EA-1637-79C2-8619-7172DF07918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7CAFF1F-9E7F-C3B7-FABC-303798B4F7F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7E3412B-B417-E56B-050B-62483D762BB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671EE2E2-45FB-061D-3A08-517F17751F37}"/>
              </a:ext>
            </a:extLst>
          </p:cNvPr>
          <p:cNvSpPr>
            <a:spLocks noGrp="1"/>
          </p:cNvSpPr>
          <p:nvPr>
            <p:ph type="body" sz="quarter" idx="12"/>
          </p:nvPr>
        </p:nvSpPr>
        <p:spPr>
          <a:xfrm>
            <a:off x="807163" y="1431692"/>
            <a:ext cx="5788189" cy="1244233"/>
          </a:xfrm>
        </p:spPr>
        <p:txBody>
          <a:bodyPr>
            <a:normAutofit/>
          </a:bodyPr>
          <a:lstStyle/>
          <a:p>
            <a:pPr marL="0" indent="0">
              <a:buNone/>
            </a:pPr>
            <a:r>
              <a:rPr lang="en-US" dirty="0" err="1"/>
              <a:t>github</a:t>
            </a:r>
            <a:r>
              <a:rPr lang="en-US" dirty="0"/>
              <a:t> link: </a:t>
            </a:r>
            <a:r>
              <a:rPr lang="en-US" dirty="0">
                <a:hlinkClick r:id="rId4"/>
              </a:rPr>
              <a:t>https://github.com/Sofia6002/Healthcare_Analysis_for_Doctor_Visits_TIRTC</a:t>
            </a:r>
            <a:endParaRPr lang="en-IN" dirty="0"/>
          </a:p>
        </p:txBody>
      </p:sp>
    </p:spTree>
    <p:extLst>
      <p:ext uri="{BB962C8B-B14F-4D97-AF65-F5344CB8AC3E}">
        <p14:creationId xmlns:p14="http://schemas.microsoft.com/office/powerpoint/2010/main" val="55767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1152</TotalTime>
  <Words>303</Words>
  <Application>Microsoft Office PowerPoint</Application>
  <PresentationFormat>Widescreen</PresentationFormat>
  <Paragraphs>52</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Trebuchet MS</vt:lpstr>
      <vt:lpstr>Wingdings</vt:lpstr>
      <vt:lpstr>Wingdings 3</vt:lpstr>
      <vt:lpstr>Facet</vt:lpstr>
      <vt:lpstr>Healthcare Analysis for Doctor Visits_TIRTC</vt:lpstr>
      <vt:lpstr>PROBLEM  STATEMENT</vt:lpstr>
      <vt:lpstr>Project Description   </vt:lpstr>
      <vt:lpstr>WHO ARE THE END USERS?</vt:lpstr>
      <vt:lpstr>Technology Used</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76</cp:revision>
  <dcterms:created xsi:type="dcterms:W3CDTF">2021-07-11T13:13:15Z</dcterms:created>
  <dcterms:modified xsi:type="dcterms:W3CDTF">2026-09-25T14:34:03Z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